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9" r:id="rId2"/>
    <p:sldId id="271" r:id="rId3"/>
    <p:sldId id="268" r:id="rId4"/>
    <p:sldId id="272" r:id="rId5"/>
    <p:sldId id="273" r:id="rId6"/>
    <p:sldId id="264" r:id="rId7"/>
    <p:sldId id="274" r:id="rId8"/>
    <p:sldId id="270" r:id="rId9"/>
    <p:sldId id="275" r:id="rId10"/>
    <p:sldId id="277" r:id="rId11"/>
    <p:sldId id="278" r:id="rId12"/>
    <p:sldId id="276" r:id="rId13"/>
    <p:sldId id="281" r:id="rId14"/>
    <p:sldId id="279" r:id="rId15"/>
    <p:sldId id="287" r:id="rId16"/>
    <p:sldId id="288" r:id="rId17"/>
    <p:sldId id="282" r:id="rId18"/>
    <p:sldId id="285" r:id="rId19"/>
    <p:sldId id="284" r:id="rId20"/>
    <p:sldId id="286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C164B-AC0E-4DC6-9A84-FE6798F2FD41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03FF0-BEB5-41F6-92F8-27C359248F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3645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829ea3e91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829ea3e91_0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f829ea3e91_0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"/>
              <a:t>6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abc81da8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abc81da82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fabc81da82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"/>
              <a:t>18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754b0405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754b0405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9ca0fcf7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9ca0fcf7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81A0CF-EC6A-4724-82A7-C49ECD6A1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9F7049-3AD0-4383-BD02-F134A48BE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CDA6B6-73B0-48A9-9C58-7D494C35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3DB5E6-4C64-4D4B-8B24-94DA1DED8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75A99A-4D41-4F5B-A2C8-5BA86CCE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889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E6D9C1-7F70-47F0-BDBB-717576FC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A9F4F2-8A96-4D0B-B5F5-1F1B1596A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2AEDC7-23E7-44A0-882C-0FC5F239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31CC9E-4C18-4A97-B644-123CC378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770ADA-536B-4457-96CE-B6CE9C57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3484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2A659B-B45D-491F-BC94-99E6E10A4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8743E1-4CED-4F6E-8A0D-4B3D0DD6B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2DFE4A-D8D3-481C-9AE6-41A243117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D8D5F7-E6BF-48FE-9A07-2A938359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FB3B04-CDB8-4221-9BBE-D9D3785A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1907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1BFCEA-2062-48A7-88CF-9B97295E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B9900A-AE66-4A5C-B5EE-E1A01EBB25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86AD98-D4A0-47A0-90A6-FD0E09E10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B377E4-CBDD-4553-944D-0EF5C16D2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52715E-EDD5-4C1F-A486-698C1449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9B78A4-9A3C-4D65-B06B-D4F14D39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576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7B5A1-F175-445C-9C1D-8C59CC16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D5F13A-1433-4636-9122-F0B301932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6D7212-FA0C-404A-926E-45BE4AEAF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DF077E-5065-46A0-8022-08EAC2078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AC3AA17-1D15-4B51-AE29-869D1BE8C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21E2279-1B6F-4E50-8879-F9DEAB3C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ACF7DC5-4C95-4AA9-A2EA-D23527A29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F7242D-F0D1-4720-BB8D-78E371B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394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B6CF97-21C2-468B-A5F1-619FE0B12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6F874E-A74F-4AF1-83E1-A9CFA042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202D4D-4F26-4802-AABD-0201A251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C6F41C-CB3C-43B3-A5DF-E9BE3F17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40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3139D5-2133-4579-AC50-14C87FF3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7BC689-43D6-4E4E-B2EA-D19D4853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C9C436-09D3-44E3-94B5-2EF8E719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0117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BAF245-7A04-4EB9-B1B1-F189ADFBC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351801-B998-4297-93D8-CF84DA55D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8CBC57-F6AE-4284-BC0B-F8893E9C6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A1F23C-CCB9-42EA-A8B2-09840A5D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57F08E-810D-415C-AD9D-FDEDA688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E5B57A-95E8-4696-85F2-04ADBB30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91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1FDEF-8472-4BF8-931F-C1D7DD6EE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C4C8E41-C288-4DAA-8374-7BE8D63D6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4D3874-D7A4-45FF-85ED-749E85EA7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A3D27B-023B-4F01-9404-3BE82044C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BB054E-855A-4E96-9190-171542718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0869E2-E20E-40BB-BE7D-7A3E6FD5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14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BDE864-8748-40EC-B543-66474E3B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4DC69A-0D4E-426A-8731-B3A3693AE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93DC39-DAE3-4C2A-BF8F-061554245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F8C5D4-0A67-4F4E-B041-E72C5CB4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684D59-270C-4C17-B31E-5188502D7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98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52A4865-75BA-40BC-91B5-31BF521E3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B838DE-B52D-4BB7-84F0-F8ACA20B6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7BF104-6D08-44C4-A179-5572A87C7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FEB8A9-A777-41A0-9345-87F889E6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F7BBD6-FA3E-4DD7-BD2A-B758E998C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8F079-0E43-4CA8-98A7-EFB0490A53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5083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C18730-1C4E-4931-A42E-C263C7B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" y="167005"/>
            <a:ext cx="10397490" cy="73215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6CC503-67F8-4D01-A9AF-48D6DEC5B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B6D9-98A4-45A1-B19D-4B2343D7763A}" type="datetime1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D94297-4B95-4A33-9B81-309CDDE7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6B4E2F1-947D-4432-9E62-D087F2AF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0680" y="633476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824BCA-F6B2-485C-B485-242B91B41BF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6313169-EDCD-4691-B204-7905B7BE6BA1}"/>
              </a:ext>
            </a:extLst>
          </p:cNvPr>
          <p:cNvSpPr/>
          <p:nvPr/>
        </p:nvSpPr>
        <p:spPr>
          <a:xfrm>
            <a:off x="0" y="891540"/>
            <a:ext cx="12192000" cy="1104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269DEF00-626C-4E6B-8502-B78CB83A1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" y="1155064"/>
            <a:ext cx="11849100" cy="5090795"/>
          </a:xfrm>
        </p:spPr>
        <p:txBody>
          <a:bodyPr>
            <a:normAutofit/>
          </a:bodyPr>
          <a:lstStyle>
            <a:lvl1pPr>
              <a:defRPr sz="3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>
              <a:defRPr sz="3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>
              <a:defRPr sz="28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>
              <a:defRPr sz="24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>
              <a:defRPr sz="24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49698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ユーザー設定レイアウト">
  <p:cSld name="2_ユーザー設定レイアウト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44780" y="167005"/>
            <a:ext cx="103976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eiryo"/>
              <a:buNone/>
              <a:defRPr>
                <a:latin typeface="Meiryo"/>
                <a:ea typeface="Meiryo"/>
                <a:cs typeface="Meiryo"/>
                <a:sym typeface="Meiry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9250680" y="6334760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  <p:sp>
        <p:nvSpPr>
          <p:cNvPr id="55" name="Google Shape;55;p13"/>
          <p:cNvSpPr/>
          <p:nvPr/>
        </p:nvSpPr>
        <p:spPr>
          <a:xfrm>
            <a:off x="0" y="891540"/>
            <a:ext cx="12192000" cy="110400"/>
          </a:xfrm>
          <a:prstGeom prst="rect">
            <a:avLst/>
          </a:prstGeom>
          <a:solidFill>
            <a:srgbClr val="E1EFD8"/>
          </a:solidFill>
          <a:ln w="21425" cap="flat" cmpd="sng">
            <a:solidFill>
              <a:srgbClr val="C4E0B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144780" y="1155064"/>
            <a:ext cx="11849200" cy="5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53338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  <a:defRPr sz="3600">
                <a:latin typeface="Meiryo"/>
                <a:ea typeface="Meiryo"/>
                <a:cs typeface="Meiryo"/>
                <a:sym typeface="Meiryo"/>
              </a:defRPr>
            </a:lvl1pPr>
            <a:lvl2pPr marL="1219170" lvl="1" indent="-50798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3200">
                <a:latin typeface="Meiryo"/>
                <a:ea typeface="Meiryo"/>
                <a:cs typeface="Meiryo"/>
                <a:sym typeface="Meiryo"/>
              </a:defRPr>
            </a:lvl2pPr>
            <a:lvl3pPr marL="1828754" lvl="2" indent="-48258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  <a:defRPr sz="2800">
                <a:latin typeface="Meiryo"/>
                <a:ea typeface="Meiryo"/>
                <a:cs typeface="Meiryo"/>
                <a:sym typeface="Meiryo"/>
              </a:defRPr>
            </a:lvl3pPr>
            <a:lvl4pPr marL="2438339" lvl="3" indent="-4571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2400">
                <a:latin typeface="Meiryo"/>
                <a:ea typeface="Meiryo"/>
                <a:cs typeface="Meiryo"/>
                <a:sym typeface="Meiryo"/>
              </a:defRPr>
            </a:lvl4pPr>
            <a:lvl5pPr marL="3047924" lvl="4" indent="-4571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2400">
                <a:latin typeface="Meiryo"/>
                <a:ea typeface="Meiryo"/>
                <a:cs typeface="Meiryo"/>
                <a:sym typeface="Meiryo"/>
              </a:defRPr>
            </a:lvl5pPr>
            <a:lvl6pPr marL="3657509" lvl="5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885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7C591CD-7642-4CA1-AE13-36756772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2E4766-C945-4E73-9A05-4A2599E83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16B2FB-F1A5-45B1-977A-B6AC56D08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7F726-AA71-4581-AB64-0E703AE8616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5ABACB-3613-4DEE-B91F-9A48853B5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EDBD3E-117E-4C32-8C1B-1C904FE4F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018F079-0E43-4CA8-98A7-EFB0490A532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026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A36A01-D3FC-46F2-A443-5C90486882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SoPA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833225E-1B0F-494D-A57F-12DC77334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9246263-98B9-4D9B-B6BB-78416D141FB7}"/>
              </a:ext>
            </a:extLst>
          </p:cNvPr>
          <p:cNvSpPr/>
          <p:nvPr/>
        </p:nvSpPr>
        <p:spPr>
          <a:xfrm>
            <a:off x="5964393" y="3244334"/>
            <a:ext cx="263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6902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C70D69-89E9-4063-977A-94345694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ネットリストの調査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83F86D-0630-48A7-82BC-5F49E5B3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028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4F5119-154B-4D84-A148-8F8512A2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ネットリスト傾向 </a:t>
            </a:r>
            <a:r>
              <a:rPr lang="en-US" altLang="ja-JP" dirty="0"/>
              <a:t>(1</a:t>
            </a:r>
            <a:r>
              <a:rPr lang="ja-JP" altLang="en-US" dirty="0"/>
              <a:t>回路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CCB6DD-26CC-42CE-8837-50D67F71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24BCA-F6B2-485C-B485-242B91B41BF4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Google Shape;181;p33">
            <a:extLst>
              <a:ext uri="{FF2B5EF4-FFF2-40B4-BE49-F238E27FC236}">
                <a16:creationId xmlns:a16="http://schemas.microsoft.com/office/drawing/2014/main" id="{6EFC77B1-76E6-4A53-988B-ED50604963A4}"/>
              </a:ext>
            </a:extLst>
          </p:cNvPr>
          <p:cNvSpPr txBox="1">
            <a:spLocks/>
          </p:cNvSpPr>
          <p:nvPr/>
        </p:nvSpPr>
        <p:spPr>
          <a:xfrm>
            <a:off x="316071" y="1087239"/>
            <a:ext cx="10990521" cy="987370"/>
          </a:xfrm>
          <a:prstGeom prst="rect">
            <a:avLst/>
          </a:prstGeom>
        </p:spPr>
        <p:txBody>
          <a:bodyPr spcFirstLastPara="1" vert="horz" wrap="square" lIns="68575" tIns="34275" rIns="68575" bIns="3427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32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ja-JP" sz="1900" dirty="0">
                <a:solidFill>
                  <a:schemeClr val="dk1"/>
                </a:solidFill>
              </a:rPr>
              <a:t>FF</a:t>
            </a:r>
            <a:r>
              <a:rPr lang="ja-JP" altLang="en-US" sz="1900" dirty="0">
                <a:solidFill>
                  <a:schemeClr val="dk1"/>
                </a:solidFill>
              </a:rPr>
              <a:t>を基準として入力へ信号をさかのぼり，各セルに最長論理段数を付与</a:t>
            </a:r>
          </a:p>
          <a:p>
            <a:pPr marL="0" indent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ja-JP" altLang="en-US" sz="1900" dirty="0">
              <a:solidFill>
                <a:schemeClr val="dk1"/>
              </a:solidFill>
            </a:endParaRPr>
          </a:p>
        </p:txBody>
      </p:sp>
      <p:pic>
        <p:nvPicPr>
          <p:cNvPr id="6" name="Google Shape;182;p33">
            <a:extLst>
              <a:ext uri="{FF2B5EF4-FFF2-40B4-BE49-F238E27FC236}">
                <a16:creationId xmlns:a16="http://schemas.microsoft.com/office/drawing/2014/main" id="{4E5B2A39-9F74-4BD3-86E1-57948152EFB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91820" y="1773229"/>
            <a:ext cx="5114208" cy="425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3;p33">
            <a:extLst>
              <a:ext uri="{FF2B5EF4-FFF2-40B4-BE49-F238E27FC236}">
                <a16:creationId xmlns:a16="http://schemas.microsoft.com/office/drawing/2014/main" id="{506ABCED-085C-456D-8849-AA8E805779F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71" y="3149590"/>
            <a:ext cx="5727794" cy="320888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84;p33">
            <a:extLst>
              <a:ext uri="{FF2B5EF4-FFF2-40B4-BE49-F238E27FC236}">
                <a16:creationId xmlns:a16="http://schemas.microsoft.com/office/drawing/2014/main" id="{4E5B57CC-0F43-4489-85B7-A0F87B61B856}"/>
              </a:ext>
            </a:extLst>
          </p:cNvPr>
          <p:cNvSpPr/>
          <p:nvPr/>
        </p:nvSpPr>
        <p:spPr>
          <a:xfrm>
            <a:off x="3411110" y="2146852"/>
            <a:ext cx="1547352" cy="749924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1"/>
          </a:solidFill>
          <a:ln w="715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latin typeface="Meiryo"/>
                <a:ea typeface="Meiryo"/>
                <a:cs typeface="Meiryo"/>
                <a:sym typeface="Meiryo"/>
              </a:rPr>
              <a:t>全セルに対する割合</a:t>
            </a:r>
            <a:endParaRPr sz="1100"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9" name="Google Shape;185;p33">
            <a:extLst>
              <a:ext uri="{FF2B5EF4-FFF2-40B4-BE49-F238E27FC236}">
                <a16:creationId xmlns:a16="http://schemas.microsoft.com/office/drawing/2014/main" id="{75703B5D-480E-4C8A-96CE-51AAB20CE3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35048"/>
          <a:stretch/>
        </p:blipFill>
        <p:spPr>
          <a:xfrm>
            <a:off x="1036240" y="1503369"/>
            <a:ext cx="3523350" cy="4836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0515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ED87E3-C497-4CD5-876E-A356EA373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" y="167005"/>
            <a:ext cx="11694712" cy="732155"/>
          </a:xfrm>
        </p:spPr>
        <p:txBody>
          <a:bodyPr>
            <a:noAutofit/>
          </a:bodyPr>
          <a:lstStyle/>
          <a:p>
            <a:r>
              <a:rPr kumimoji="1" lang="ja-JP" altLang="en-US" sz="2800" dirty="0"/>
              <a:t>ネットリスト傾向</a:t>
            </a:r>
            <a:r>
              <a:rPr kumimoji="1" lang="en-US" altLang="ja-JP" sz="2800" dirty="0"/>
              <a:t>(41</a:t>
            </a:r>
            <a:r>
              <a:rPr kumimoji="1" lang="ja-JP" altLang="en-US" sz="2800" dirty="0"/>
              <a:t>回路</a:t>
            </a:r>
            <a:r>
              <a:rPr kumimoji="1" lang="en-US" altLang="ja-JP" sz="2800" dirty="0"/>
              <a:t>)</a:t>
            </a:r>
            <a:endParaRPr kumimoji="1" lang="ja-JP" altLang="en-US" sz="2800" dirty="0"/>
          </a:p>
        </p:txBody>
      </p:sp>
      <p:sp>
        <p:nvSpPr>
          <p:cNvPr id="5" name="Google Shape;192;p34">
            <a:extLst>
              <a:ext uri="{FF2B5EF4-FFF2-40B4-BE49-F238E27FC236}">
                <a16:creationId xmlns:a16="http://schemas.microsoft.com/office/drawing/2014/main" id="{058210D0-5E30-4B9C-878D-B47F5B999750}"/>
              </a:ext>
            </a:extLst>
          </p:cNvPr>
          <p:cNvSpPr txBox="1"/>
          <p:nvPr/>
        </p:nvSpPr>
        <p:spPr>
          <a:xfrm>
            <a:off x="1241325" y="5648891"/>
            <a:ext cx="89355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1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FF・入力の両端で細く，中間段で膨らむ6角形型の分布</a:t>
            </a:r>
            <a:endParaRPr sz="21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6" name="Google Shape;193;p34">
            <a:extLst>
              <a:ext uri="{FF2B5EF4-FFF2-40B4-BE49-F238E27FC236}">
                <a16:creationId xmlns:a16="http://schemas.microsoft.com/office/drawing/2014/main" id="{8DFC1966-FDAA-4CB6-BBB5-E5D53C44D5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66275" y="2076332"/>
            <a:ext cx="6110475" cy="333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4;p34">
            <a:extLst>
              <a:ext uri="{FF2B5EF4-FFF2-40B4-BE49-F238E27FC236}">
                <a16:creationId xmlns:a16="http://schemas.microsoft.com/office/drawing/2014/main" id="{177FF698-0040-4B59-B72A-1904F9147B9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618" y="2068935"/>
            <a:ext cx="2700639" cy="334776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5;p34">
            <a:extLst>
              <a:ext uri="{FF2B5EF4-FFF2-40B4-BE49-F238E27FC236}">
                <a16:creationId xmlns:a16="http://schemas.microsoft.com/office/drawing/2014/main" id="{F11485FA-3C09-453B-901E-E29BB0F6784E}"/>
              </a:ext>
            </a:extLst>
          </p:cNvPr>
          <p:cNvSpPr/>
          <p:nvPr/>
        </p:nvSpPr>
        <p:spPr>
          <a:xfrm>
            <a:off x="8927231" y="5875069"/>
            <a:ext cx="951338" cy="548597"/>
          </a:xfrm>
          <a:prstGeom prst="flowChartManualOperation">
            <a:avLst/>
          </a:prstGeom>
          <a:solidFill>
            <a:srgbClr val="FF9900"/>
          </a:solidFill>
          <a:ln w="108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4075" tIns="104075" rIns="104075" bIns="104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" name="Google Shape;196;p34">
            <a:extLst>
              <a:ext uri="{FF2B5EF4-FFF2-40B4-BE49-F238E27FC236}">
                <a16:creationId xmlns:a16="http://schemas.microsoft.com/office/drawing/2014/main" id="{30EF4419-BCCF-4201-BC67-2175672DC171}"/>
              </a:ext>
            </a:extLst>
          </p:cNvPr>
          <p:cNvSpPr/>
          <p:nvPr/>
        </p:nvSpPr>
        <p:spPr>
          <a:xfrm rot="10800000">
            <a:off x="8927231" y="5326473"/>
            <a:ext cx="951338" cy="548597"/>
          </a:xfrm>
          <a:prstGeom prst="flowChartManualOperation">
            <a:avLst/>
          </a:prstGeom>
          <a:solidFill>
            <a:srgbClr val="FF9900"/>
          </a:solidFill>
          <a:ln w="108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4075" tIns="104075" rIns="104075" bIns="104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7EFB4CF-CF8A-4A63-A8B3-E34CBC31C603}"/>
              </a:ext>
            </a:extLst>
          </p:cNvPr>
          <p:cNvSpPr txBox="1"/>
          <p:nvPr/>
        </p:nvSpPr>
        <p:spPr>
          <a:xfrm>
            <a:off x="341906" y="1216550"/>
            <a:ext cx="11147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41</a:t>
            </a:r>
            <a:r>
              <a:rPr kumimoji="1" lang="ja-JP" altLang="en-US" dirty="0"/>
              <a:t>回路で相対位置をあわせノード数の割合を調査</a:t>
            </a:r>
          </a:p>
        </p:txBody>
      </p:sp>
    </p:spTree>
    <p:extLst>
      <p:ext uri="{BB962C8B-B14F-4D97-AF65-F5344CB8AC3E}">
        <p14:creationId xmlns:p14="http://schemas.microsoft.com/office/powerpoint/2010/main" val="78708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C70D69-89E9-4063-977A-94345694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配置配線手法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83F86D-0630-48A7-82BC-5F49E5B3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4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>
            <a:spLocks noGrp="1"/>
          </p:cNvSpPr>
          <p:nvPr>
            <p:ph type="title"/>
          </p:nvPr>
        </p:nvSpPr>
        <p:spPr>
          <a:xfrm>
            <a:off x="144780" y="167005"/>
            <a:ext cx="10397600" cy="732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r>
              <a:rPr lang="ja"/>
              <a:t>配置配線手法</a:t>
            </a:r>
            <a:endParaRPr/>
          </a:p>
        </p:txBody>
      </p:sp>
      <p:sp>
        <p:nvSpPr>
          <p:cNvPr id="265" name="Google Shape;265;p38"/>
          <p:cNvSpPr txBox="1">
            <a:spLocks noGrp="1"/>
          </p:cNvSpPr>
          <p:nvPr>
            <p:ph type="body" idx="1"/>
          </p:nvPr>
        </p:nvSpPr>
        <p:spPr>
          <a:xfrm>
            <a:off x="144780" y="1018672"/>
            <a:ext cx="3540400" cy="413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ja" altLang="en-US" sz="1400" b="1" dirty="0">
                <a:solidFill>
                  <a:schemeClr val="dk1"/>
                </a:solidFill>
              </a:rPr>
              <a:t>列位置のみ</a:t>
            </a:r>
            <a:r>
              <a:rPr lang="en-US" altLang="ja" sz="1400" b="1" dirty="0">
                <a:solidFill>
                  <a:schemeClr val="dk1"/>
                </a:solidFill>
              </a:rPr>
              <a:t>SAT</a:t>
            </a:r>
            <a:r>
              <a:rPr lang="ja" altLang="en-US" sz="1400" b="1" dirty="0">
                <a:solidFill>
                  <a:schemeClr val="dk1"/>
                </a:solidFill>
              </a:rPr>
              <a:t>での配置配線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266" name="Google Shape;266;p38"/>
          <p:cNvSpPr txBox="1">
            <a:spLocks noGrp="1"/>
          </p:cNvSpPr>
          <p:nvPr>
            <p:ph type="body" idx="1"/>
          </p:nvPr>
        </p:nvSpPr>
        <p:spPr>
          <a:xfrm>
            <a:off x="321274" y="4779099"/>
            <a:ext cx="5300297" cy="1533657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0" indent="0">
              <a:buNone/>
            </a:pPr>
            <a:r>
              <a:rPr lang="ja" altLang="en-US" sz="1600" dirty="0">
                <a:solidFill>
                  <a:schemeClr val="dk1"/>
                </a:solidFill>
              </a:rPr>
              <a:t>〇</a:t>
            </a:r>
            <a:r>
              <a:rPr lang="en-US" altLang="ja" sz="1600" dirty="0">
                <a:solidFill>
                  <a:schemeClr val="dk1"/>
                </a:solidFill>
              </a:rPr>
              <a:t>PA</a:t>
            </a:r>
            <a:r>
              <a:rPr lang="ja" altLang="en-US" sz="1600" dirty="0">
                <a:solidFill>
                  <a:schemeClr val="dk1"/>
                </a:solidFill>
              </a:rPr>
              <a:t>と配線構造の行</a:t>
            </a:r>
            <a:r>
              <a:rPr lang="en-US" altLang="ja" sz="1600" dirty="0">
                <a:solidFill>
                  <a:schemeClr val="dk1"/>
                </a:solidFill>
              </a:rPr>
              <a:t>(</a:t>
            </a:r>
            <a:r>
              <a:rPr lang="ja" altLang="en-US" sz="1600" dirty="0">
                <a:solidFill>
                  <a:schemeClr val="dk1"/>
                </a:solidFill>
              </a:rPr>
              <a:t>段</a:t>
            </a:r>
            <a:r>
              <a:rPr lang="en-US" altLang="ja" sz="1600" dirty="0">
                <a:solidFill>
                  <a:schemeClr val="dk1"/>
                </a:solidFill>
              </a:rPr>
              <a:t>)</a:t>
            </a:r>
            <a:r>
              <a:rPr lang="ja" altLang="en-US" sz="1600" dirty="0">
                <a:solidFill>
                  <a:schemeClr val="dk1"/>
                </a:solidFill>
              </a:rPr>
              <a:t>を一致</a:t>
            </a:r>
            <a:endParaRPr sz="1600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ja" altLang="en-US" sz="1600" dirty="0">
                <a:solidFill>
                  <a:schemeClr val="dk1"/>
                </a:solidFill>
              </a:rPr>
              <a:t>〇列の決定のみで</a:t>
            </a:r>
            <a:r>
              <a:rPr lang="en-US" altLang="ja" sz="1600" dirty="0">
                <a:solidFill>
                  <a:schemeClr val="dk1"/>
                </a:solidFill>
              </a:rPr>
              <a:t>SAT</a:t>
            </a:r>
            <a:r>
              <a:rPr lang="ja" altLang="en-US" sz="1600" dirty="0">
                <a:solidFill>
                  <a:schemeClr val="dk1"/>
                </a:solidFill>
              </a:rPr>
              <a:t>を使用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67" name="Google Shape;267;p38"/>
          <p:cNvSpPr/>
          <p:nvPr/>
        </p:nvSpPr>
        <p:spPr>
          <a:xfrm rot="10800000">
            <a:off x="2891775" y="1466988"/>
            <a:ext cx="169600" cy="274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algn="ctr"/>
            <a:endParaRPr sz="1467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2376875" y="2568612"/>
            <a:ext cx="417200" cy="5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r>
              <a:rPr lang="ja" altLang="en-US" sz="2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行</a:t>
            </a:r>
            <a:endParaRPr sz="2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9" name="Google Shape;269;p38"/>
          <p:cNvSpPr/>
          <p:nvPr/>
        </p:nvSpPr>
        <p:spPr>
          <a:xfrm rot="5400000">
            <a:off x="4484451" y="2642537"/>
            <a:ext cx="180400" cy="3114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algn="ctr"/>
            <a:endParaRPr sz="1467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4366100" y="4352463"/>
            <a:ext cx="417200" cy="5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r>
              <a:rPr lang="ja" altLang="en-US" sz="2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列</a:t>
            </a:r>
            <a:endParaRPr sz="2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1" name="Google Shape;271;p38"/>
          <p:cNvSpPr/>
          <p:nvPr/>
        </p:nvSpPr>
        <p:spPr>
          <a:xfrm>
            <a:off x="6382300" y="1277800"/>
            <a:ext cx="5810000" cy="4273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r>
              <a:rPr lang="ja" altLang="en-US" sz="2533" b="1">
                <a:latin typeface="Meiryo"/>
                <a:ea typeface="Meiryo"/>
                <a:cs typeface="Meiryo"/>
                <a:sym typeface="Meiryo"/>
              </a:rPr>
              <a:t>載せたい回路と配線構造の行</a:t>
            </a:r>
            <a:r>
              <a:rPr lang="en-US" altLang="ja" sz="2533" b="1">
                <a:latin typeface="Meiryo"/>
                <a:ea typeface="Meiryo"/>
                <a:cs typeface="Meiryo"/>
                <a:sym typeface="Meiryo"/>
              </a:rPr>
              <a:t>(</a:t>
            </a:r>
            <a:r>
              <a:rPr lang="ja" altLang="en-US" sz="2533" b="1">
                <a:latin typeface="Meiryo"/>
                <a:ea typeface="Meiryo"/>
                <a:cs typeface="Meiryo"/>
                <a:sym typeface="Meiryo"/>
              </a:rPr>
              <a:t>段</a:t>
            </a:r>
            <a:r>
              <a:rPr lang="en-US" altLang="ja" sz="2533" b="1">
                <a:latin typeface="Meiryo"/>
                <a:ea typeface="Meiryo"/>
                <a:cs typeface="Meiryo"/>
                <a:sym typeface="Meiryo"/>
              </a:rPr>
              <a:t>)</a:t>
            </a:r>
            <a:endParaRPr sz="2533" b="1">
              <a:latin typeface="Meiryo"/>
              <a:ea typeface="Meiryo"/>
              <a:cs typeface="Meiryo"/>
              <a:sym typeface="Meiryo"/>
            </a:endParaRPr>
          </a:p>
          <a:p>
            <a:r>
              <a:rPr lang="ja" altLang="en-US" sz="2533" b="1">
                <a:latin typeface="Meiryo"/>
                <a:ea typeface="Meiryo"/>
                <a:cs typeface="Meiryo"/>
                <a:sym typeface="Meiryo"/>
              </a:rPr>
              <a:t>固定する理由</a:t>
            </a:r>
            <a:endParaRPr sz="2533" b="1">
              <a:latin typeface="Meiryo"/>
              <a:ea typeface="Meiryo"/>
              <a:cs typeface="Meiryo"/>
              <a:sym typeface="Meiryo"/>
            </a:endParaRPr>
          </a:p>
          <a:p>
            <a:endParaRPr sz="1333">
              <a:latin typeface="Meiryo"/>
              <a:ea typeface="Meiryo"/>
              <a:cs typeface="Meiryo"/>
              <a:sym typeface="Meiryo"/>
            </a:endParaRPr>
          </a:p>
          <a:p>
            <a:r>
              <a:rPr lang="ja" altLang="en-US" sz="2000">
                <a:latin typeface="Meiryo"/>
                <a:ea typeface="Meiryo"/>
                <a:cs typeface="Meiryo"/>
                <a:sym typeface="Meiryo"/>
              </a:rPr>
              <a:t>配線構造はネットリストの形状をもとに作成</a:t>
            </a:r>
            <a:endParaRPr sz="2000">
              <a:latin typeface="Meiryo"/>
              <a:ea typeface="Meiryo"/>
              <a:cs typeface="Meiryo"/>
              <a:sym typeface="Meiryo"/>
            </a:endParaRPr>
          </a:p>
          <a:p>
            <a:endParaRPr sz="667">
              <a:latin typeface="Meiryo"/>
              <a:ea typeface="Meiryo"/>
              <a:cs typeface="Meiryo"/>
              <a:sym typeface="Meiryo"/>
            </a:endParaRPr>
          </a:p>
          <a:p>
            <a:r>
              <a:rPr lang="ja" altLang="en-US" sz="2000">
                <a:latin typeface="Meiryo"/>
                <a:ea typeface="Meiryo"/>
                <a:cs typeface="Meiryo"/>
                <a:sym typeface="Meiryo"/>
              </a:rPr>
              <a:t>→行固定により，ネットリストの形状に合わせた配置配線を行いたい</a:t>
            </a:r>
            <a:endParaRPr sz="2000">
              <a:latin typeface="Meiryo"/>
              <a:ea typeface="Meiryo"/>
              <a:cs typeface="Meiryo"/>
              <a:sym typeface="Meiryo"/>
            </a:endParaRPr>
          </a:p>
          <a:p>
            <a:endParaRPr sz="800">
              <a:latin typeface="Meiryo"/>
              <a:ea typeface="Meiryo"/>
              <a:cs typeface="Meiryo"/>
              <a:sym typeface="Meiryo"/>
            </a:endParaRPr>
          </a:p>
          <a:p>
            <a:r>
              <a:rPr lang="ja" altLang="en-US" sz="2000">
                <a:latin typeface="Meiryo"/>
                <a:ea typeface="Meiryo"/>
                <a:cs typeface="Meiryo"/>
                <a:sym typeface="Meiryo"/>
              </a:rPr>
              <a:t>⇔段数無視では，統計をとって設計した構造の意図を無視することになるため</a:t>
            </a:r>
            <a:endParaRPr sz="2000">
              <a:latin typeface="Meiryo"/>
              <a:ea typeface="Meiryo"/>
              <a:cs typeface="Meiryo"/>
              <a:sym typeface="Meiryo"/>
            </a:endParaRPr>
          </a:p>
          <a:p>
            <a:endParaRPr sz="2000">
              <a:latin typeface="Meiryo"/>
              <a:ea typeface="Meiryo"/>
              <a:cs typeface="Meiryo"/>
              <a:sym typeface="Meiryo"/>
            </a:endParaRPr>
          </a:p>
          <a:p>
            <a:r>
              <a:rPr lang="ja" altLang="en-US" sz="2000">
                <a:latin typeface="Meiryo"/>
                <a:ea typeface="Meiryo"/>
                <a:cs typeface="Meiryo"/>
                <a:sym typeface="Meiryo"/>
              </a:rPr>
              <a:t>・計算量の軽量化</a:t>
            </a:r>
            <a:endParaRPr sz="2000">
              <a:latin typeface="Meiryo"/>
              <a:ea typeface="Meiryo"/>
              <a:cs typeface="Meiryo"/>
              <a:sym typeface="Meiryo"/>
            </a:endParaRPr>
          </a:p>
          <a:p>
            <a:endParaRPr sz="2000">
              <a:latin typeface="Meiryo"/>
              <a:ea typeface="Meiryo"/>
              <a:cs typeface="Meiryo"/>
              <a:sym typeface="Meiryo"/>
            </a:endParaRPr>
          </a:p>
          <a:p>
            <a:endParaRPr sz="2000"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72" name="Google Shape;27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375" y="1544288"/>
            <a:ext cx="2979711" cy="254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42600"/>
            <a:ext cx="2250688" cy="2540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38"/>
          <p:cNvCxnSpPr/>
          <p:nvPr/>
        </p:nvCxnSpPr>
        <p:spPr>
          <a:xfrm>
            <a:off x="703425" y="2104100"/>
            <a:ext cx="2954400" cy="0"/>
          </a:xfrm>
          <a:prstGeom prst="straightConnector1">
            <a:avLst/>
          </a:prstGeom>
          <a:noFill/>
          <a:ln w="214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38"/>
          <p:cNvCxnSpPr/>
          <p:nvPr/>
        </p:nvCxnSpPr>
        <p:spPr>
          <a:xfrm rot="10800000" flipH="1">
            <a:off x="715725" y="1542800"/>
            <a:ext cx="2930000" cy="12400"/>
          </a:xfrm>
          <a:prstGeom prst="straightConnector1">
            <a:avLst/>
          </a:prstGeom>
          <a:noFill/>
          <a:ln w="214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38"/>
          <p:cNvCxnSpPr/>
          <p:nvPr/>
        </p:nvCxnSpPr>
        <p:spPr>
          <a:xfrm>
            <a:off x="304051" y="2564225"/>
            <a:ext cx="2757200" cy="4400"/>
          </a:xfrm>
          <a:prstGeom prst="straightConnector1">
            <a:avLst/>
          </a:prstGeom>
          <a:noFill/>
          <a:ln w="21425" cap="flat" cmpd="sng">
            <a:solidFill>
              <a:srgbClr val="FF00FF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38"/>
          <p:cNvCxnSpPr/>
          <p:nvPr/>
        </p:nvCxnSpPr>
        <p:spPr>
          <a:xfrm rot="10800000" flipH="1">
            <a:off x="260151" y="3096825"/>
            <a:ext cx="2861200" cy="6400"/>
          </a:xfrm>
          <a:prstGeom prst="straightConnector1">
            <a:avLst/>
          </a:prstGeom>
          <a:noFill/>
          <a:ln w="21425" cap="flat" cmpd="sng">
            <a:solidFill>
              <a:srgbClr val="FF00FF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38"/>
          <p:cNvCxnSpPr/>
          <p:nvPr/>
        </p:nvCxnSpPr>
        <p:spPr>
          <a:xfrm>
            <a:off x="682475" y="3543651"/>
            <a:ext cx="2922800" cy="13600"/>
          </a:xfrm>
          <a:prstGeom prst="straightConnector1">
            <a:avLst/>
          </a:prstGeom>
          <a:noFill/>
          <a:ln w="21425" cap="flat" cmpd="sng">
            <a:solidFill>
              <a:srgbClr val="00FF00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38"/>
          <p:cNvCxnSpPr/>
          <p:nvPr/>
        </p:nvCxnSpPr>
        <p:spPr>
          <a:xfrm rot="10800000" flipH="1">
            <a:off x="638575" y="4081851"/>
            <a:ext cx="2926400" cy="800"/>
          </a:xfrm>
          <a:prstGeom prst="straightConnector1">
            <a:avLst/>
          </a:prstGeom>
          <a:noFill/>
          <a:ln w="21425" cap="flat" cmpd="sng">
            <a:solidFill>
              <a:srgbClr val="00FF00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280" name="Google Shape;280;p38"/>
          <p:cNvSpPr txBox="1"/>
          <p:nvPr/>
        </p:nvSpPr>
        <p:spPr>
          <a:xfrm>
            <a:off x="260151" y="6089583"/>
            <a:ext cx="4472000" cy="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r>
              <a:rPr lang="ja" altLang="en-US" sz="2400" b="1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深さの定義 </a:t>
            </a:r>
            <a:r>
              <a:rPr lang="en-US" altLang="ja" sz="2400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-</a:t>
            </a:r>
            <a:r>
              <a:rPr lang="ja" altLang="en-US" sz="2000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最長の</a:t>
            </a:r>
            <a:r>
              <a:rPr lang="en-US" altLang="ja" sz="2000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FF</a:t>
            </a:r>
            <a:r>
              <a:rPr lang="ja" altLang="en-US" sz="2000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距離</a:t>
            </a:r>
            <a:endParaRPr sz="20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C70D69-89E9-4063-977A-94345694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構造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83F86D-0630-48A7-82BC-5F49E5B3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545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3C80F9-39B0-46D8-99D2-4C071AB63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元になっている被覆構造の原理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D2CAB2A-3749-4890-9D66-9004CBB17DA8}"/>
              </a:ext>
            </a:extLst>
          </p:cNvPr>
          <p:cNvSpPr/>
          <p:nvPr/>
        </p:nvSpPr>
        <p:spPr>
          <a:xfrm>
            <a:off x="552905" y="3955959"/>
            <a:ext cx="682171" cy="5660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</a:t>
            </a:r>
            <a:endParaRPr kumimoji="1" lang="ja-JP" altLang="en-US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4412D6F-1044-45A4-8DD4-73A3EAD9C519}"/>
              </a:ext>
            </a:extLst>
          </p:cNvPr>
          <p:cNvSpPr/>
          <p:nvPr/>
        </p:nvSpPr>
        <p:spPr>
          <a:xfrm>
            <a:off x="1416505" y="3955959"/>
            <a:ext cx="682171" cy="5660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</a:t>
            </a:r>
            <a:endParaRPr kumimoji="1" lang="ja-JP" altLang="en-US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244AA42-335E-42BC-B9BD-1E3AF1D7DA3A}"/>
              </a:ext>
            </a:extLst>
          </p:cNvPr>
          <p:cNvSpPr/>
          <p:nvPr/>
        </p:nvSpPr>
        <p:spPr>
          <a:xfrm>
            <a:off x="3172734" y="3955958"/>
            <a:ext cx="682171" cy="5660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</a:t>
            </a:r>
            <a:endParaRPr kumimoji="1" lang="ja-JP" altLang="en-US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6B51B56-37D7-4CD5-8A12-56A202E300F0}"/>
              </a:ext>
            </a:extLst>
          </p:cNvPr>
          <p:cNvSpPr/>
          <p:nvPr/>
        </p:nvSpPr>
        <p:spPr>
          <a:xfrm>
            <a:off x="248105" y="2402931"/>
            <a:ext cx="682171" cy="5660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</a:t>
            </a:r>
            <a:endParaRPr kumimoji="1" lang="ja-JP" altLang="en-US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BA4BED2A-7DC9-4FE8-AD5A-3A0207DC8593}"/>
              </a:ext>
            </a:extLst>
          </p:cNvPr>
          <p:cNvSpPr/>
          <p:nvPr/>
        </p:nvSpPr>
        <p:spPr>
          <a:xfrm>
            <a:off x="1042762" y="2402931"/>
            <a:ext cx="682171" cy="5660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</a:t>
            </a:r>
            <a:endParaRPr kumimoji="1" lang="ja-JP" altLang="en-US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3798509-7D2F-41BC-BCAD-EF93C1856717}"/>
              </a:ext>
            </a:extLst>
          </p:cNvPr>
          <p:cNvSpPr/>
          <p:nvPr/>
        </p:nvSpPr>
        <p:spPr>
          <a:xfrm>
            <a:off x="1837419" y="2402931"/>
            <a:ext cx="682171" cy="5660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</a:t>
            </a:r>
            <a:endParaRPr kumimoji="1" lang="ja-JP" altLang="en-US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7667394-06FA-473D-A1FC-055C18F63301}"/>
              </a:ext>
            </a:extLst>
          </p:cNvPr>
          <p:cNvSpPr txBox="1"/>
          <p:nvPr/>
        </p:nvSpPr>
        <p:spPr>
          <a:xfrm>
            <a:off x="2679247" y="2532070"/>
            <a:ext cx="1045029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・・・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0F1E2A1-B1B2-4837-B542-8AE680BD43A2}"/>
              </a:ext>
            </a:extLst>
          </p:cNvPr>
          <p:cNvSpPr/>
          <p:nvPr/>
        </p:nvSpPr>
        <p:spPr>
          <a:xfrm>
            <a:off x="3542847" y="2402931"/>
            <a:ext cx="767444" cy="61551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</a:t>
            </a:r>
            <a:endParaRPr kumimoji="1" lang="ja-JP" altLang="en-US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右中かっこ 12">
            <a:extLst>
              <a:ext uri="{FF2B5EF4-FFF2-40B4-BE49-F238E27FC236}">
                <a16:creationId xmlns:a16="http://schemas.microsoft.com/office/drawing/2014/main" id="{8A124A01-9D20-4B69-97FE-98A73D3C9B1A}"/>
              </a:ext>
            </a:extLst>
          </p:cNvPr>
          <p:cNvSpPr/>
          <p:nvPr/>
        </p:nvSpPr>
        <p:spPr>
          <a:xfrm rot="5400000">
            <a:off x="1759586" y="2915087"/>
            <a:ext cx="1030152" cy="3595914"/>
          </a:xfrm>
          <a:prstGeom prst="rightBrace">
            <a:avLst>
              <a:gd name="adj1" fmla="val 8333"/>
              <a:gd name="adj2" fmla="val 4959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4893D1D-63F0-4877-A926-826385D8BAEE}"/>
              </a:ext>
            </a:extLst>
          </p:cNvPr>
          <p:cNvSpPr txBox="1"/>
          <p:nvPr/>
        </p:nvSpPr>
        <p:spPr>
          <a:xfrm>
            <a:off x="2274662" y="5008464"/>
            <a:ext cx="63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D02B0B2-DD15-49C5-A9F7-B1471279542E}"/>
              </a:ext>
            </a:extLst>
          </p:cNvPr>
          <p:cNvSpPr txBox="1"/>
          <p:nvPr/>
        </p:nvSpPr>
        <p:spPr>
          <a:xfrm>
            <a:off x="1958976" y="1310456"/>
            <a:ext cx="63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2N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右中かっこ 15">
            <a:extLst>
              <a:ext uri="{FF2B5EF4-FFF2-40B4-BE49-F238E27FC236}">
                <a16:creationId xmlns:a16="http://schemas.microsoft.com/office/drawing/2014/main" id="{1F3BABE9-A5A9-4E66-81AA-955CC7C62572}"/>
              </a:ext>
            </a:extLst>
          </p:cNvPr>
          <p:cNvSpPr/>
          <p:nvPr/>
        </p:nvSpPr>
        <p:spPr>
          <a:xfrm rot="16200000">
            <a:off x="1764122" y="230269"/>
            <a:ext cx="1030152" cy="4062186"/>
          </a:xfrm>
          <a:prstGeom prst="rightBrace">
            <a:avLst>
              <a:gd name="adj1" fmla="val 8333"/>
              <a:gd name="adj2" fmla="val 497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3316D00-345F-40AD-90DD-DCED1CCF886E}"/>
              </a:ext>
            </a:extLst>
          </p:cNvPr>
          <p:cNvSpPr txBox="1"/>
          <p:nvPr/>
        </p:nvSpPr>
        <p:spPr>
          <a:xfrm>
            <a:off x="5613401" y="2503154"/>
            <a:ext cx="6578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k</a:t>
            </a:r>
            <a:r>
              <a:rPr kumimoji="1" lang="ja-JP" altLang="en-US" sz="2800" dirty="0"/>
              <a:t>番目のセルが持つべき接続数</a:t>
            </a:r>
            <a:r>
              <a:rPr kumimoji="1" lang="en-US" altLang="ja-JP" sz="2800" dirty="0"/>
              <a:t>A</a:t>
            </a:r>
            <a:r>
              <a:rPr kumimoji="1" lang="en-US" altLang="ja-JP" sz="1800" dirty="0"/>
              <a:t>k</a:t>
            </a:r>
            <a:endParaRPr kumimoji="1" lang="ja-JP" altLang="en-US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E55B65-E9E0-425B-ACCC-3C9A2BA33E15}"/>
              </a:ext>
            </a:extLst>
          </p:cNvPr>
          <p:cNvSpPr txBox="1"/>
          <p:nvPr/>
        </p:nvSpPr>
        <p:spPr>
          <a:xfrm>
            <a:off x="6594022" y="2976976"/>
            <a:ext cx="3948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A</a:t>
            </a:r>
            <a:r>
              <a:rPr kumimoji="1" lang="en-US" altLang="ja-JP" sz="2000" dirty="0"/>
              <a:t>k</a:t>
            </a:r>
            <a:r>
              <a:rPr kumimoji="1" lang="en-US" altLang="ja-JP" sz="2800" dirty="0"/>
              <a:t> = min(N,[2N/k])</a:t>
            </a:r>
            <a:endParaRPr kumimoji="1" lang="ja-JP" altLang="en-US" sz="2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87C848-2483-48CC-B729-5159D0AE26CE}"/>
              </a:ext>
            </a:extLst>
          </p:cNvPr>
          <p:cNvSpPr txBox="1"/>
          <p:nvPr/>
        </p:nvSpPr>
        <p:spPr>
          <a:xfrm>
            <a:off x="6174014" y="1549844"/>
            <a:ext cx="4490357" cy="95410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N:</a:t>
            </a:r>
            <a:r>
              <a:rPr kumimoji="1" lang="ja-JP" altLang="en-US" sz="2800" dirty="0"/>
              <a:t>下のノード数</a:t>
            </a:r>
            <a:endParaRPr kumimoji="1" lang="en-US" altLang="ja-JP" sz="2800" dirty="0"/>
          </a:p>
          <a:p>
            <a:r>
              <a:rPr kumimoji="1" lang="en-US" altLang="ja-JP" sz="2800" dirty="0"/>
              <a:t>k:</a:t>
            </a:r>
            <a:r>
              <a:rPr kumimoji="1" lang="ja-JP" altLang="en-US" sz="2800" dirty="0"/>
              <a:t>上のセルのインデックス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ADB52B6-59F2-48DD-B2D0-AD8C32E4A7D3}"/>
              </a:ext>
            </a:extLst>
          </p:cNvPr>
          <p:cNvCxnSpPr>
            <a:cxnSpLocks/>
          </p:cNvCxnSpPr>
          <p:nvPr/>
        </p:nvCxnSpPr>
        <p:spPr>
          <a:xfrm>
            <a:off x="4593771" y="1052286"/>
            <a:ext cx="0" cy="4761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C43B52B-803F-44B8-BECD-65856187070A}"/>
              </a:ext>
            </a:extLst>
          </p:cNvPr>
          <p:cNvCxnSpPr>
            <a:cxnSpLocks/>
          </p:cNvCxnSpPr>
          <p:nvPr/>
        </p:nvCxnSpPr>
        <p:spPr>
          <a:xfrm flipH="1">
            <a:off x="4593771" y="3500196"/>
            <a:ext cx="75038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F965C52-DD44-42A3-ABE1-EA4A2F19994E}"/>
              </a:ext>
            </a:extLst>
          </p:cNvPr>
          <p:cNvSpPr txBox="1"/>
          <p:nvPr/>
        </p:nvSpPr>
        <p:spPr>
          <a:xfrm>
            <a:off x="7147379" y="1047628"/>
            <a:ext cx="2086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&lt;</a:t>
            </a:r>
            <a:r>
              <a:rPr kumimoji="1" lang="ja-JP" altLang="en-US" sz="2800" dirty="0"/>
              <a:t>接続本数</a:t>
            </a:r>
            <a:r>
              <a:rPr kumimoji="1" lang="en-US" altLang="ja-JP" sz="2800" dirty="0"/>
              <a:t>&gt;</a:t>
            </a:r>
            <a:endParaRPr kumimoji="1" lang="ja-JP" altLang="en-US" sz="28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AECDEED-0D51-48A8-96E5-5C304EC2530D}"/>
              </a:ext>
            </a:extLst>
          </p:cNvPr>
          <p:cNvSpPr txBox="1"/>
          <p:nvPr/>
        </p:nvSpPr>
        <p:spPr>
          <a:xfrm>
            <a:off x="7213599" y="3805011"/>
            <a:ext cx="2471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&lt;</a:t>
            </a:r>
            <a:r>
              <a:rPr kumimoji="1" lang="ja-JP" altLang="en-US" sz="2800" dirty="0"/>
              <a:t>接続方法</a:t>
            </a:r>
            <a:r>
              <a:rPr kumimoji="1" lang="en-US" altLang="ja-JP" sz="2800" dirty="0"/>
              <a:t>&gt;</a:t>
            </a:r>
            <a:endParaRPr kumimoji="1" lang="ja-JP" altLang="en-US" sz="28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D6710E3-0E25-4B96-9A82-BE1D328ED2CD}"/>
              </a:ext>
            </a:extLst>
          </p:cNvPr>
          <p:cNvSpPr txBox="1"/>
          <p:nvPr/>
        </p:nvSpPr>
        <p:spPr>
          <a:xfrm>
            <a:off x="6528709" y="4215065"/>
            <a:ext cx="4135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ラウンドロビン配置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ACB7206-E957-48ED-BF44-A490E3B876CF}"/>
              </a:ext>
            </a:extLst>
          </p:cNvPr>
          <p:cNvSpPr txBox="1"/>
          <p:nvPr/>
        </p:nvSpPr>
        <p:spPr>
          <a:xfrm>
            <a:off x="5493204" y="4738285"/>
            <a:ext cx="62220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〇直前の接続の右隣ノードから配線</a:t>
            </a:r>
            <a:endParaRPr kumimoji="1" lang="en-US" altLang="ja-JP" sz="2800" dirty="0"/>
          </a:p>
          <a:p>
            <a:r>
              <a:rPr kumimoji="1" lang="ja-JP" altLang="en-US" sz="2800" dirty="0"/>
              <a:t>〇右端まで行ったら左端に折り返す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C444091-B08D-4AC0-A804-661ED5D5B735}"/>
              </a:ext>
            </a:extLst>
          </p:cNvPr>
          <p:cNvCxnSpPr>
            <a:cxnSpLocks/>
          </p:cNvCxnSpPr>
          <p:nvPr/>
        </p:nvCxnSpPr>
        <p:spPr>
          <a:xfrm flipH="1">
            <a:off x="2" y="5814204"/>
            <a:ext cx="1219199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BA0A511-77D5-4FDE-B821-FAD50C2C9086}"/>
              </a:ext>
            </a:extLst>
          </p:cNvPr>
          <p:cNvSpPr txBox="1"/>
          <p:nvPr/>
        </p:nvSpPr>
        <p:spPr>
          <a:xfrm>
            <a:off x="94344" y="6295952"/>
            <a:ext cx="12028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対象</a:t>
            </a:r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</a:t>
            </a:r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の接続を必ず保証できる点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38244E8-0FDF-488D-86BF-2CFA196EB9B1}"/>
              </a:ext>
            </a:extLst>
          </p:cNvPr>
          <p:cNvSpPr txBox="1"/>
          <p:nvPr/>
        </p:nvSpPr>
        <p:spPr>
          <a:xfrm>
            <a:off x="69011" y="5850249"/>
            <a:ext cx="12028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被覆構造の価値</a:t>
            </a:r>
          </a:p>
        </p:txBody>
      </p:sp>
      <p:sp>
        <p:nvSpPr>
          <p:cNvPr id="29" name="スライド番号プレースホルダー 27">
            <a:extLst>
              <a:ext uri="{FF2B5EF4-FFF2-40B4-BE49-F238E27FC236}">
                <a16:creationId xmlns:a16="http://schemas.microsoft.com/office/drawing/2014/main" id="{C655DDB4-1153-4992-99DB-DB6A3B1B0E3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85910" y="6346276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altLang="ja-JP" smtClean="0"/>
              <a:pPr/>
              <a:t>8</a:t>
            </a:fld>
            <a:endParaRPr lang="ja-JP" altLang="en-US" dirty="0"/>
          </a:p>
        </p:txBody>
      </p:sp>
      <p:sp>
        <p:nvSpPr>
          <p:cNvPr id="30" name="吹き出し: 角を丸めた四角形 29">
            <a:extLst>
              <a:ext uri="{FF2B5EF4-FFF2-40B4-BE49-F238E27FC236}">
                <a16:creationId xmlns:a16="http://schemas.microsoft.com/office/drawing/2014/main" id="{6B73A2CA-65E9-4018-996F-867D227BBD41}"/>
              </a:ext>
            </a:extLst>
          </p:cNvPr>
          <p:cNvSpPr/>
          <p:nvPr/>
        </p:nvSpPr>
        <p:spPr>
          <a:xfrm>
            <a:off x="10542270" y="834976"/>
            <a:ext cx="1555386" cy="1546366"/>
          </a:xfrm>
          <a:prstGeom prst="wedgeRoundRectCallout">
            <a:avLst>
              <a:gd name="adj1" fmla="val -30956"/>
              <a:gd name="adj2" fmla="val 6249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出力側の本数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≒</a:t>
            </a:r>
            <a:r>
              <a:rPr lang="en-US" altLang="ja-JP" dirty="0">
                <a:solidFill>
                  <a:schemeClr val="tx1"/>
                </a:solidFill>
              </a:rPr>
              <a:t>mux</a:t>
            </a:r>
            <a:r>
              <a:rPr lang="ja-JP" altLang="en-US" dirty="0">
                <a:solidFill>
                  <a:schemeClr val="tx1"/>
                </a:solidFill>
              </a:rPr>
              <a:t>の式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175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C1EFA3E-F928-4237-A749-0248C0F02996}"/>
              </a:ext>
            </a:extLst>
          </p:cNvPr>
          <p:cNvSpPr/>
          <p:nvPr/>
        </p:nvSpPr>
        <p:spPr>
          <a:xfrm>
            <a:off x="211371" y="3411770"/>
            <a:ext cx="6173525" cy="12965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401D58F-7C9A-4F53-9291-7EAB451D6506}"/>
              </a:ext>
            </a:extLst>
          </p:cNvPr>
          <p:cNvSpPr/>
          <p:nvPr/>
        </p:nvSpPr>
        <p:spPr>
          <a:xfrm>
            <a:off x="1168843" y="2036997"/>
            <a:ext cx="4158532" cy="1392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E0E71D8-EB1A-4D94-BAE4-93F0FB20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SoPA</a:t>
            </a:r>
            <a:r>
              <a:rPr kumimoji="1" lang="ja-JP" altLang="en-US" dirty="0"/>
              <a:t>のアイデア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16959A-FEED-49BC-875B-5A71F087A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" y="1155065"/>
            <a:ext cx="11849100" cy="626028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被覆構造を上下で重ねていく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4A150F9-583E-4E28-94AB-32FBE5F27BA4}"/>
              </a:ext>
            </a:extLst>
          </p:cNvPr>
          <p:cNvSpPr/>
          <p:nvPr/>
        </p:nvSpPr>
        <p:spPr>
          <a:xfrm>
            <a:off x="2305878" y="1876507"/>
            <a:ext cx="556592" cy="5247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F629CD-8A52-44C3-9CF0-A505C6C51A39}"/>
              </a:ext>
            </a:extLst>
          </p:cNvPr>
          <p:cNvSpPr/>
          <p:nvPr/>
        </p:nvSpPr>
        <p:spPr>
          <a:xfrm>
            <a:off x="3658925" y="1876507"/>
            <a:ext cx="556592" cy="5247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1982F06-8F96-49BE-B435-D1B0955399DE}"/>
              </a:ext>
            </a:extLst>
          </p:cNvPr>
          <p:cNvSpPr/>
          <p:nvPr/>
        </p:nvSpPr>
        <p:spPr>
          <a:xfrm>
            <a:off x="1509423" y="3110285"/>
            <a:ext cx="556592" cy="5247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E568A7E-8D3D-4D49-B4DC-9F6A3A38DF06}"/>
              </a:ext>
            </a:extLst>
          </p:cNvPr>
          <p:cNvSpPr/>
          <p:nvPr/>
        </p:nvSpPr>
        <p:spPr>
          <a:xfrm>
            <a:off x="2981076" y="3110285"/>
            <a:ext cx="556592" cy="5247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C20C732-B9B1-4C81-9F32-15CD1D56C1A3}"/>
              </a:ext>
            </a:extLst>
          </p:cNvPr>
          <p:cNvSpPr/>
          <p:nvPr/>
        </p:nvSpPr>
        <p:spPr>
          <a:xfrm>
            <a:off x="4452730" y="3110285"/>
            <a:ext cx="556592" cy="5247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0E1CA8D-3213-4655-9623-2FEF50A5EC6E}"/>
              </a:ext>
            </a:extLst>
          </p:cNvPr>
          <p:cNvSpPr/>
          <p:nvPr/>
        </p:nvSpPr>
        <p:spPr>
          <a:xfrm>
            <a:off x="715618" y="4439477"/>
            <a:ext cx="556592" cy="5247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090F0B9-23FA-477B-86F1-A9935B577960}"/>
              </a:ext>
            </a:extLst>
          </p:cNvPr>
          <p:cNvSpPr/>
          <p:nvPr/>
        </p:nvSpPr>
        <p:spPr>
          <a:xfrm>
            <a:off x="2187271" y="4439477"/>
            <a:ext cx="556592" cy="5247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F1F133-0327-4B35-A328-3BB0C1E82DA8}"/>
              </a:ext>
            </a:extLst>
          </p:cNvPr>
          <p:cNvSpPr/>
          <p:nvPr/>
        </p:nvSpPr>
        <p:spPr>
          <a:xfrm>
            <a:off x="3658925" y="4439477"/>
            <a:ext cx="556592" cy="5247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41593F4-686D-4574-8720-A7517EFAD40D}"/>
              </a:ext>
            </a:extLst>
          </p:cNvPr>
          <p:cNvSpPr/>
          <p:nvPr/>
        </p:nvSpPr>
        <p:spPr>
          <a:xfrm>
            <a:off x="5130579" y="4439477"/>
            <a:ext cx="556592" cy="5247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0692E82-3678-442E-B8B5-A0D5A58F9422}"/>
              </a:ext>
            </a:extLst>
          </p:cNvPr>
          <p:cNvSpPr txBox="1"/>
          <p:nvPr/>
        </p:nvSpPr>
        <p:spPr>
          <a:xfrm>
            <a:off x="3076003" y="5390985"/>
            <a:ext cx="461665" cy="94805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EC13C25-F71F-4052-B9FC-92EBDE6F1A0D}"/>
              </a:ext>
            </a:extLst>
          </p:cNvPr>
          <p:cNvCxnSpPr>
            <a:endCxn id="6" idx="0"/>
          </p:cNvCxnSpPr>
          <p:nvPr/>
        </p:nvCxnSpPr>
        <p:spPr>
          <a:xfrm flipH="1">
            <a:off x="1787719" y="2401293"/>
            <a:ext cx="804406" cy="70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00002174-0908-491F-B924-3A02FEF79B1D}"/>
              </a:ext>
            </a:extLst>
          </p:cNvPr>
          <p:cNvCxnSpPr>
            <a:endCxn id="7" idx="0"/>
          </p:cNvCxnSpPr>
          <p:nvPr/>
        </p:nvCxnSpPr>
        <p:spPr>
          <a:xfrm>
            <a:off x="2608028" y="2401293"/>
            <a:ext cx="651344" cy="70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9701F18-9840-47CE-95C0-C50D478130B7}"/>
              </a:ext>
            </a:extLst>
          </p:cNvPr>
          <p:cNvCxnSpPr>
            <a:stCxn id="4" idx="2"/>
          </p:cNvCxnSpPr>
          <p:nvPr/>
        </p:nvCxnSpPr>
        <p:spPr>
          <a:xfrm>
            <a:off x="2584174" y="2401293"/>
            <a:ext cx="2170706" cy="682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191F19FA-D66D-44B5-84B3-4DCE7F794F5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787719" y="2401293"/>
            <a:ext cx="2149502" cy="70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C8509E3-626E-45C8-9C55-E851D89C76C2}"/>
              </a:ext>
            </a:extLst>
          </p:cNvPr>
          <p:cNvCxnSpPr>
            <a:stCxn id="5" idx="2"/>
          </p:cNvCxnSpPr>
          <p:nvPr/>
        </p:nvCxnSpPr>
        <p:spPr>
          <a:xfrm flipH="1">
            <a:off x="3259372" y="2401293"/>
            <a:ext cx="677849" cy="682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9CE0193-5986-4374-A104-0653674ED7C1}"/>
              </a:ext>
            </a:extLst>
          </p:cNvPr>
          <p:cNvCxnSpPr/>
          <p:nvPr/>
        </p:nvCxnSpPr>
        <p:spPr>
          <a:xfrm>
            <a:off x="3910716" y="2401293"/>
            <a:ext cx="844164" cy="682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B4E3BE8D-BB31-4503-826E-80D8337E042C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flipH="1">
            <a:off x="993914" y="3635071"/>
            <a:ext cx="793805" cy="80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0D91A185-411C-4C88-85CC-37417C8CA6CA}"/>
              </a:ext>
            </a:extLst>
          </p:cNvPr>
          <p:cNvCxnSpPr>
            <a:endCxn id="11" idx="0"/>
          </p:cNvCxnSpPr>
          <p:nvPr/>
        </p:nvCxnSpPr>
        <p:spPr>
          <a:xfrm>
            <a:off x="1787719" y="3635071"/>
            <a:ext cx="677848" cy="80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673F9CD-7419-49BA-923F-67D775B42382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787718" y="3635071"/>
            <a:ext cx="2149503" cy="80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1000655-A155-4DAA-BF41-9BF96E22066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787719" y="3635071"/>
            <a:ext cx="3621156" cy="80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3DE9CE51-EB1F-4FA2-8A54-1AADD284862F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flipH="1">
            <a:off x="2465567" y="3635071"/>
            <a:ext cx="793805" cy="80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17FB06D-4ED4-4F93-B5A5-E5392291904F}"/>
              </a:ext>
            </a:extLst>
          </p:cNvPr>
          <p:cNvCxnSpPr/>
          <p:nvPr/>
        </p:nvCxnSpPr>
        <p:spPr>
          <a:xfrm flipH="1">
            <a:off x="993914" y="3661437"/>
            <a:ext cx="2265458" cy="751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2305D643-DFDC-492E-8346-6D126EC14AAE}"/>
              </a:ext>
            </a:extLst>
          </p:cNvPr>
          <p:cNvCxnSpPr>
            <a:stCxn id="7" idx="2"/>
            <a:endCxn id="12" idx="0"/>
          </p:cNvCxnSpPr>
          <p:nvPr/>
        </p:nvCxnSpPr>
        <p:spPr>
          <a:xfrm>
            <a:off x="3259372" y="3635071"/>
            <a:ext cx="677849" cy="80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B7956FB6-8EEE-4AE3-8639-69C4DA3F15D5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3259372" y="3635071"/>
            <a:ext cx="2149503" cy="80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97C86CA6-516D-4065-879B-BE38D880B96E}"/>
              </a:ext>
            </a:extLst>
          </p:cNvPr>
          <p:cNvCxnSpPr>
            <a:stCxn id="8" idx="2"/>
            <a:endCxn id="11" idx="0"/>
          </p:cNvCxnSpPr>
          <p:nvPr/>
        </p:nvCxnSpPr>
        <p:spPr>
          <a:xfrm flipH="1">
            <a:off x="2465567" y="3635071"/>
            <a:ext cx="2265459" cy="80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5D4EBD54-3F29-45CD-B1EA-9BB85F9CB78A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993914" y="3635071"/>
            <a:ext cx="3737112" cy="80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B594D67B-7D33-467A-8261-BC43129870C3}"/>
              </a:ext>
            </a:extLst>
          </p:cNvPr>
          <p:cNvSpPr txBox="1"/>
          <p:nvPr/>
        </p:nvSpPr>
        <p:spPr>
          <a:xfrm>
            <a:off x="6384896" y="2451521"/>
            <a:ext cx="407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段目と</a:t>
            </a:r>
            <a:r>
              <a:rPr kumimoji="1" lang="en-US" altLang="ja-JP" dirty="0"/>
              <a:t>2</a:t>
            </a:r>
            <a:r>
              <a:rPr kumimoji="1" lang="ja-JP" altLang="en-US" dirty="0"/>
              <a:t>段目の間で被覆構造で配線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EF93462-9BD2-40EB-94C1-EEE10E4F27E5}"/>
              </a:ext>
            </a:extLst>
          </p:cNvPr>
          <p:cNvSpPr txBox="1"/>
          <p:nvPr/>
        </p:nvSpPr>
        <p:spPr>
          <a:xfrm>
            <a:off x="7284718" y="3852482"/>
            <a:ext cx="407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段目と</a:t>
            </a:r>
            <a:r>
              <a:rPr lang="en-US" altLang="ja-JP" dirty="0"/>
              <a:t>3</a:t>
            </a:r>
            <a:r>
              <a:rPr kumimoji="1" lang="ja-JP" altLang="en-US" dirty="0"/>
              <a:t>段目の間で被覆構造で配線</a:t>
            </a:r>
          </a:p>
        </p:txBody>
      </p:sp>
    </p:spTree>
    <p:extLst>
      <p:ext uri="{BB962C8B-B14F-4D97-AF65-F5344CB8AC3E}">
        <p14:creationId xmlns:p14="http://schemas.microsoft.com/office/powerpoint/2010/main" val="805764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371C0-9F9F-4665-9741-803062C7F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スーパーセット構造の作り方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CD7EFF-6FA1-4769-9312-CDDB5DC9B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" y="1155065"/>
            <a:ext cx="11849100" cy="562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800" dirty="0"/>
              <a:t>用意し</a:t>
            </a:r>
            <a:r>
              <a:rPr lang="ja-JP" altLang="en-US" sz="2800" dirty="0"/>
              <a:t>た</a:t>
            </a:r>
            <a:r>
              <a:rPr kumimoji="1" lang="ja-JP" altLang="en-US" sz="2800" dirty="0"/>
              <a:t>回路すべてが載る構造をスーパーセット構造と呼ぶ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F53AE5C-46E8-402A-B8AC-B69FF19AF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43" y="1825517"/>
            <a:ext cx="8841268" cy="486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5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005733-16EC-4C21-874A-D49CEB46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79" y="167005"/>
            <a:ext cx="11575443" cy="732155"/>
          </a:xfrm>
        </p:spPr>
        <p:txBody>
          <a:bodyPr>
            <a:normAutofit/>
          </a:bodyPr>
          <a:lstStyle/>
          <a:p>
            <a:r>
              <a:rPr lang="ja-JP" altLang="en-US" dirty="0"/>
              <a:t>スーパーセットの規格</a:t>
            </a:r>
            <a:r>
              <a:rPr lang="en-US" altLang="ja-JP" dirty="0"/>
              <a:t>(</a:t>
            </a:r>
            <a:r>
              <a:rPr lang="ja-JP" altLang="en-US" sz="3100" dirty="0"/>
              <a:t>段飛びすべて</a:t>
            </a:r>
            <a:r>
              <a:rPr lang="en-US" altLang="ja-JP" sz="3100" dirty="0"/>
              <a:t>skip</a:t>
            </a:r>
            <a:r>
              <a:rPr lang="ja-JP" altLang="en-US" sz="3100" dirty="0"/>
              <a:t>版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5C835CFA-FCE1-4782-AF3E-75740C84087D}"/>
              </a:ext>
            </a:extLst>
          </p:cNvPr>
          <p:cNvSpPr/>
          <p:nvPr/>
        </p:nvSpPr>
        <p:spPr>
          <a:xfrm>
            <a:off x="258416" y="4789378"/>
            <a:ext cx="11787810" cy="2068621"/>
          </a:xfrm>
          <a:prstGeom prst="wedgeRoundRectCallout">
            <a:avLst>
              <a:gd name="adj1" fmla="val -17271"/>
              <a:gd name="adj2" fmla="val -8971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A75E6DC-2C5E-45D5-A48C-9B39D5271E98}"/>
              </a:ext>
            </a:extLst>
          </p:cNvPr>
          <p:cNvSpPr txBox="1"/>
          <p:nvPr/>
        </p:nvSpPr>
        <p:spPr>
          <a:xfrm>
            <a:off x="341906" y="4943871"/>
            <a:ext cx="3236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入力の候補</a:t>
            </a:r>
            <a:endParaRPr kumimoji="1" lang="en-US" altLang="ja-JP" dirty="0"/>
          </a:p>
          <a:p>
            <a:r>
              <a:rPr kumimoji="1" lang="en-US" altLang="ja-JP" dirty="0"/>
              <a:t>(IMUX</a:t>
            </a:r>
            <a:r>
              <a:rPr kumimoji="1" lang="ja-JP" altLang="en-US" dirty="0"/>
              <a:t>最大値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770F0E6-E792-4324-8B91-0672A73A1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428" y="1053652"/>
            <a:ext cx="6547899" cy="3735727"/>
          </a:xfrm>
          <a:prstGeom prst="rect">
            <a:avLst/>
          </a:prstGeom>
        </p:spPr>
      </p:pic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F2309E94-4371-4079-95D0-243F7D3E4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952093"/>
              </p:ext>
            </p:extLst>
          </p:nvPr>
        </p:nvGraphicFramePr>
        <p:xfrm>
          <a:off x="2289976" y="4852987"/>
          <a:ext cx="9560118" cy="1920240"/>
        </p:xfrm>
        <a:graphic>
          <a:graphicData uri="http://schemas.openxmlformats.org/drawingml/2006/table">
            <a:tbl>
              <a:tblPr/>
              <a:tblGrid>
                <a:gridCol w="3461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6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入力の種類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前段（段 12）の候補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FF 出力の放送（FFfb）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外部入力 EXT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定数（0/1）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その段に落ちる skip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70（gap2 が 19 本、gap3 18、gap4 9、gap5 11、gap6〜13 で 13）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602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005733-16EC-4C21-874A-D49CEB46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79" y="167005"/>
            <a:ext cx="11575443" cy="732155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スーパーセットの規格</a:t>
            </a:r>
            <a:r>
              <a:rPr lang="en-US" altLang="ja-JP" dirty="0"/>
              <a:t>(</a:t>
            </a:r>
            <a:r>
              <a:rPr lang="ja-JP" altLang="en-US" sz="3100" dirty="0"/>
              <a:t>段飛びすべてフィードスルー版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5C835CFA-FCE1-4782-AF3E-75740C84087D}"/>
              </a:ext>
            </a:extLst>
          </p:cNvPr>
          <p:cNvSpPr/>
          <p:nvPr/>
        </p:nvSpPr>
        <p:spPr>
          <a:xfrm>
            <a:off x="373711" y="2482898"/>
            <a:ext cx="3633746" cy="4208098"/>
          </a:xfrm>
          <a:prstGeom prst="wedgeRoundRectCallout">
            <a:avLst>
              <a:gd name="adj1" fmla="val 101330"/>
              <a:gd name="adj2" fmla="val 237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58146A1-BF54-437E-A165-36CF39374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974" y="1512909"/>
            <a:ext cx="7330937" cy="437510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A75E6DC-2C5E-45D5-A48C-9B39D5271E98}"/>
              </a:ext>
            </a:extLst>
          </p:cNvPr>
          <p:cNvSpPr txBox="1"/>
          <p:nvPr/>
        </p:nvSpPr>
        <p:spPr>
          <a:xfrm>
            <a:off x="778562" y="2717742"/>
            <a:ext cx="323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入力の候補</a:t>
            </a:r>
            <a:r>
              <a:rPr kumimoji="1" lang="en-US" altLang="ja-JP" dirty="0"/>
              <a:t>(IMUX</a:t>
            </a:r>
            <a:r>
              <a:rPr kumimoji="1" lang="ja-JP" altLang="en-US" dirty="0"/>
              <a:t>最大値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5019352E-FE97-4C3B-B325-73ED623EC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763056"/>
              </p:ext>
            </p:extLst>
          </p:nvPr>
        </p:nvGraphicFramePr>
        <p:xfrm>
          <a:off x="373711" y="3113298"/>
          <a:ext cx="3641032" cy="3056914"/>
        </p:xfrm>
        <a:graphic>
          <a:graphicData uri="http://schemas.openxmlformats.org/drawingml/2006/table">
            <a:tbl>
              <a:tblPr/>
              <a:tblGrid>
                <a:gridCol w="263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7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入力の種類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前段の候補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FF 出力の放送（FFfb）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外部入力 EXT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skip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64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308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0E420B-7345-4C7F-99F4-4EEF20A0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総</a:t>
            </a:r>
            <a:r>
              <a:rPr kumimoji="1" lang="en-US" altLang="ja-JP" dirty="0"/>
              <a:t>MUX</a:t>
            </a:r>
            <a:r>
              <a:rPr kumimoji="1" lang="ja-JP" altLang="en-US" dirty="0"/>
              <a:t>数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9870EBE-1E66-4BDD-B5CE-98B984847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22" y="2048136"/>
            <a:ext cx="11089585" cy="276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83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E3091B-786F-4ED2-9311-B765C487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矢印: 左右 4">
            <a:extLst>
              <a:ext uri="{FF2B5EF4-FFF2-40B4-BE49-F238E27FC236}">
                <a16:creationId xmlns:a16="http://schemas.microsoft.com/office/drawing/2014/main" id="{F0D367DC-292A-41F2-8E44-20B4C4F90AAA}"/>
              </a:ext>
            </a:extLst>
          </p:cNvPr>
          <p:cNvSpPr/>
          <p:nvPr/>
        </p:nvSpPr>
        <p:spPr>
          <a:xfrm>
            <a:off x="2428598" y="2684105"/>
            <a:ext cx="7095859" cy="451313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22562B3-478D-45FF-B35F-073EDFB3BFB2}"/>
              </a:ext>
            </a:extLst>
          </p:cNvPr>
          <p:cNvSpPr txBox="1"/>
          <p:nvPr/>
        </p:nvSpPr>
        <p:spPr>
          <a:xfrm>
            <a:off x="1301578" y="1468467"/>
            <a:ext cx="149516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/>
              <a:t>段飛び配線</a:t>
            </a:r>
            <a:endParaRPr lang="en-US" altLang="ja-JP" dirty="0"/>
          </a:p>
          <a:p>
            <a:r>
              <a:rPr kumimoji="1" lang="ja-JP" altLang="en-US" dirty="0">
                <a:solidFill>
                  <a:srgbClr val="FF0000"/>
                </a:solidFill>
              </a:rPr>
              <a:t>すべて</a:t>
            </a:r>
            <a:r>
              <a:rPr kumimoji="1" lang="en-US" altLang="ja-JP" dirty="0">
                <a:solidFill>
                  <a:srgbClr val="FF0000"/>
                </a:solidFill>
              </a:rPr>
              <a:t>skip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8A7A41F-F293-4C8F-9F80-2442542805F4}"/>
              </a:ext>
            </a:extLst>
          </p:cNvPr>
          <p:cNvSpPr txBox="1"/>
          <p:nvPr/>
        </p:nvSpPr>
        <p:spPr>
          <a:xfrm>
            <a:off x="8912927" y="1527162"/>
            <a:ext cx="247794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/>
              <a:t>段飛び配線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accent1"/>
                </a:solidFill>
              </a:rPr>
              <a:t>すべてフィードスルー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8518A44-84C9-4888-9867-2AA03E45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4" y="2246677"/>
            <a:ext cx="1244977" cy="132931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2E31F3E-F7B3-4EF6-912D-1C68C1A85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9244" y="2236381"/>
            <a:ext cx="1822257" cy="158703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AA157E2-E296-4149-842F-B5AEAD934576}"/>
              </a:ext>
            </a:extLst>
          </p:cNvPr>
          <p:cNvSpPr txBox="1"/>
          <p:nvPr/>
        </p:nvSpPr>
        <p:spPr>
          <a:xfrm>
            <a:off x="256978" y="3913646"/>
            <a:ext cx="358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構成メモリ</a:t>
            </a:r>
            <a:r>
              <a:rPr kumimoji="1" lang="en-US" altLang="ja-JP" dirty="0"/>
              <a:t>:	   10,350</a:t>
            </a:r>
            <a:r>
              <a:rPr kumimoji="1" lang="en-US" altLang="ja-JP" sz="1600" dirty="0"/>
              <a:t>bit</a:t>
            </a:r>
          </a:p>
          <a:p>
            <a:r>
              <a:rPr kumimoji="1" lang="ja-JP" altLang="en-US" dirty="0"/>
              <a:t>面積</a:t>
            </a:r>
            <a:r>
              <a:rPr kumimoji="1" lang="en-US" altLang="ja-JP" dirty="0"/>
              <a:t>	   :         586,318</a:t>
            </a:r>
            <a:r>
              <a:rPr lang="el-GR" altLang="ja-JP" sz="1600" dirty="0"/>
              <a:t>μ</a:t>
            </a:r>
            <a:r>
              <a:rPr lang="en-US" altLang="ja-JP" sz="1600" dirty="0"/>
              <a:t>m²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9D421F4-413E-48EF-9E3B-232ADCEEAD64}"/>
              </a:ext>
            </a:extLst>
          </p:cNvPr>
          <p:cNvSpPr txBox="1"/>
          <p:nvPr/>
        </p:nvSpPr>
        <p:spPr>
          <a:xfrm>
            <a:off x="8053639" y="3905236"/>
            <a:ext cx="358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構成メモリ</a:t>
            </a:r>
            <a:r>
              <a:rPr kumimoji="1" lang="en-US" altLang="ja-JP" dirty="0"/>
              <a:t>:	   11,083</a:t>
            </a:r>
            <a:r>
              <a:rPr kumimoji="1" lang="en-US" altLang="ja-JP" sz="1600" dirty="0"/>
              <a:t>bit</a:t>
            </a:r>
          </a:p>
          <a:p>
            <a:r>
              <a:rPr kumimoji="1" lang="ja-JP" altLang="en-US" dirty="0"/>
              <a:t>面積</a:t>
            </a:r>
            <a:r>
              <a:rPr kumimoji="1" lang="en-US" altLang="ja-JP" dirty="0"/>
              <a:t>	   :         543,682</a:t>
            </a:r>
            <a:r>
              <a:rPr lang="el-GR" altLang="ja-JP" sz="1600" dirty="0"/>
              <a:t>μ</a:t>
            </a:r>
            <a:r>
              <a:rPr lang="en-US" altLang="ja-JP" sz="1600" dirty="0"/>
              <a:t>m²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BFE445-D607-4F2C-B25C-98047EE6538A}"/>
              </a:ext>
            </a:extLst>
          </p:cNvPr>
          <p:cNvSpPr txBox="1"/>
          <p:nvPr/>
        </p:nvSpPr>
        <p:spPr>
          <a:xfrm>
            <a:off x="176659" y="4819640"/>
            <a:ext cx="358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未知の回路が載る保証がない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C35A22-83A9-4463-9564-16F960E5AE03}"/>
              </a:ext>
            </a:extLst>
          </p:cNvPr>
          <p:cNvSpPr txBox="1"/>
          <p:nvPr/>
        </p:nvSpPr>
        <p:spPr>
          <a:xfrm>
            <a:off x="8103519" y="4819640"/>
            <a:ext cx="358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余った枠をそのまま</a:t>
            </a:r>
            <a:r>
              <a:rPr lang="ja-JP" altLang="en-US" dirty="0"/>
              <a:t>使う</a:t>
            </a:r>
            <a:endParaRPr lang="en-US" altLang="ja-JP" dirty="0"/>
          </a:p>
          <a:p>
            <a:r>
              <a:rPr kumimoji="1" lang="ja-JP" altLang="en-US" dirty="0"/>
              <a:t>応用力がある</a:t>
            </a:r>
          </a:p>
        </p:txBody>
      </p:sp>
    </p:spTree>
    <p:extLst>
      <p:ext uri="{BB962C8B-B14F-4D97-AF65-F5344CB8AC3E}">
        <p14:creationId xmlns:p14="http://schemas.microsoft.com/office/powerpoint/2010/main" val="49235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E1BF66-0631-45F4-AF51-0030CE13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ネットリスト情報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0FDCA2-1749-48E2-9A35-D37608649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600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EEA61F-4ED5-4478-93A4-77E75F64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8B35591-67AD-421A-95A6-EA934FC9C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7" y="1252227"/>
            <a:ext cx="11179534" cy="52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62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178BC-81E9-4668-9F79-488C1276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配置配線結果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BC8974-3204-4D78-A333-ECBFB736A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3611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>
            <a:spLocks noGrp="1"/>
          </p:cNvSpPr>
          <p:nvPr>
            <p:ph type="title"/>
          </p:nvPr>
        </p:nvSpPr>
        <p:spPr>
          <a:xfrm>
            <a:off x="144780" y="167005"/>
            <a:ext cx="12047220" cy="732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r>
              <a:rPr lang="ja" dirty="0"/>
              <a:t>配線構造を作成</a:t>
            </a:r>
            <a:r>
              <a:rPr lang="en-US" altLang="ja" sz="2800" dirty="0"/>
              <a:t>(41</a:t>
            </a:r>
            <a:r>
              <a:rPr lang="ja-JP" altLang="en-US" sz="2800" dirty="0"/>
              <a:t>回路それぞれで最小構造を作成</a:t>
            </a:r>
            <a:r>
              <a:rPr lang="en-US" altLang="ja" sz="2800" dirty="0"/>
              <a:t>)</a:t>
            </a:r>
            <a:endParaRPr dirty="0"/>
          </a:p>
        </p:txBody>
      </p:sp>
      <p:sp>
        <p:nvSpPr>
          <p:cNvPr id="249" name="Google Shape;249;p26"/>
          <p:cNvSpPr txBox="1">
            <a:spLocks noGrp="1"/>
          </p:cNvSpPr>
          <p:nvPr>
            <p:ph type="body" idx="1"/>
          </p:nvPr>
        </p:nvSpPr>
        <p:spPr>
          <a:xfrm>
            <a:off x="8170467" y="1774367"/>
            <a:ext cx="3844400" cy="3725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0" indent="0">
              <a:buNone/>
            </a:pPr>
            <a:r>
              <a:rPr lang="ja" altLang="en-US" sz="2400">
                <a:solidFill>
                  <a:schemeClr val="dk1"/>
                </a:solidFill>
              </a:rPr>
              <a:t>ネットリストと同じ構成で配線構造を準備</a:t>
            </a:r>
            <a:endParaRPr sz="240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sz="240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sz="240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ja" altLang="en-US" sz="2400">
                <a:solidFill>
                  <a:schemeClr val="dk1"/>
                </a:solidFill>
              </a:rPr>
              <a:t>この構造は配置可能箇所数が最小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50" name="Google Shape;2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1" y="1155075"/>
            <a:ext cx="4572801" cy="4317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6"/>
          <p:cNvSpPr/>
          <p:nvPr/>
        </p:nvSpPr>
        <p:spPr>
          <a:xfrm>
            <a:off x="5115512" y="3004475"/>
            <a:ext cx="319600" cy="73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algn="ctr"/>
            <a:endParaRPr sz="1467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2" name="Google Shape;252;p26"/>
          <p:cNvSpPr txBox="1">
            <a:spLocks noGrp="1"/>
          </p:cNvSpPr>
          <p:nvPr>
            <p:ph type="body" idx="1"/>
          </p:nvPr>
        </p:nvSpPr>
        <p:spPr>
          <a:xfrm>
            <a:off x="1268700" y="6058884"/>
            <a:ext cx="2730400" cy="5072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rmAutofit fontScale="25000" lnSpcReduction="20000"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ja"/>
              <a:t>回路ネットリスト</a:t>
            </a:r>
            <a:endParaRPr/>
          </a:p>
        </p:txBody>
      </p:sp>
      <p:sp>
        <p:nvSpPr>
          <p:cNvPr id="253" name="Google Shape;253;p26"/>
          <p:cNvSpPr txBox="1">
            <a:spLocks noGrp="1"/>
          </p:cNvSpPr>
          <p:nvPr>
            <p:ph type="body" idx="1"/>
          </p:nvPr>
        </p:nvSpPr>
        <p:spPr>
          <a:xfrm>
            <a:off x="5854225" y="6081084"/>
            <a:ext cx="1801200" cy="4628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rmAutofit fontScale="25000" lnSpcReduction="20000"/>
          </a:bodyPr>
          <a:lstStyle/>
          <a:p>
            <a:pPr marL="0" indent="0">
              <a:lnSpc>
                <a:spcPct val="70000"/>
              </a:lnSpc>
              <a:spcAft>
                <a:spcPts val="1600"/>
              </a:spcAft>
              <a:buNone/>
            </a:pPr>
            <a:r>
              <a:rPr lang="ja" altLang="en-US" sz="2400"/>
              <a:t>配線構造</a:t>
            </a:r>
            <a:endParaRPr sz="2400"/>
          </a:p>
        </p:txBody>
      </p:sp>
      <p:pic>
        <p:nvPicPr>
          <p:cNvPr id="254" name="Google Shape;2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7354" y="1080761"/>
            <a:ext cx="1801201" cy="481897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>
            <a:spLocks noGrp="1"/>
          </p:cNvSpPr>
          <p:nvPr>
            <p:ph type="sldNum" idx="12"/>
          </p:nvPr>
        </p:nvSpPr>
        <p:spPr>
          <a:xfrm>
            <a:off x="9250680" y="6334760"/>
            <a:ext cx="2743200" cy="3652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 altLang="ja"/>
              <a:pPr>
                <a:buClr>
                  <a:srgbClr val="000000"/>
                </a:buClr>
              </a:p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>
            <a:spLocks noGrp="1"/>
          </p:cNvSpPr>
          <p:nvPr>
            <p:ph type="title"/>
          </p:nvPr>
        </p:nvSpPr>
        <p:spPr>
          <a:xfrm>
            <a:off x="144780" y="167005"/>
            <a:ext cx="10397600" cy="732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r>
              <a:rPr lang="ja" dirty="0"/>
              <a:t>結果</a:t>
            </a:r>
            <a:endParaRPr dirty="0"/>
          </a:p>
        </p:txBody>
      </p:sp>
      <p:pic>
        <p:nvPicPr>
          <p:cNvPr id="284" name="Google Shape;284;p28"/>
          <p:cNvPicPr preferRelativeResize="0"/>
          <p:nvPr/>
        </p:nvPicPr>
        <p:blipFill rotWithShape="1">
          <a:blip r:embed="rId3">
            <a:alphaModFix/>
          </a:blip>
          <a:srcRect l="478" t="606"/>
          <a:stretch/>
        </p:blipFill>
        <p:spPr>
          <a:xfrm>
            <a:off x="227700" y="1339667"/>
            <a:ext cx="8146931" cy="5404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9667" y="94334"/>
            <a:ext cx="4421068" cy="247746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/>
        </p:nvSpPr>
        <p:spPr>
          <a:xfrm>
            <a:off x="8450567" y="3883567"/>
            <a:ext cx="3582400" cy="1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ja" altLang="en-US" sz="2400">
                <a:solidFill>
                  <a:schemeClr val="dk1"/>
                </a:solidFill>
              </a:rPr>
              <a:t>回路規模が大きくなるほど</a:t>
            </a:r>
            <a:r>
              <a:rPr lang="en-US" altLang="ja" sz="2400">
                <a:solidFill>
                  <a:schemeClr val="dk1"/>
                </a:solidFill>
              </a:rPr>
              <a:t>SoPA</a:t>
            </a:r>
            <a:r>
              <a:rPr lang="ja" altLang="en-US" sz="2400">
                <a:solidFill>
                  <a:schemeClr val="dk1"/>
                </a:solidFill>
              </a:rPr>
              <a:t>の優位性は</a:t>
            </a:r>
            <a:endParaRPr sz="2400">
              <a:solidFill>
                <a:schemeClr val="dk1"/>
              </a:solidFill>
            </a:endParaRPr>
          </a:p>
          <a:p>
            <a:r>
              <a:rPr lang="ja" altLang="en-US" sz="2400">
                <a:solidFill>
                  <a:schemeClr val="dk1"/>
                </a:solidFill>
              </a:rPr>
              <a:t>小さくなる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87" name="Google Shape;287;p28"/>
          <p:cNvSpPr txBox="1">
            <a:spLocks noGrp="1"/>
          </p:cNvSpPr>
          <p:nvPr>
            <p:ph type="sldNum" idx="12"/>
          </p:nvPr>
        </p:nvSpPr>
        <p:spPr>
          <a:xfrm>
            <a:off x="9250680" y="6334760"/>
            <a:ext cx="2743200" cy="3652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 altLang="ja"/>
              <a:pPr>
                <a:buClr>
                  <a:srgbClr val="000000"/>
                </a:buClr>
              </a:p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>
            <a:spLocks noGrp="1"/>
          </p:cNvSpPr>
          <p:nvPr>
            <p:ph type="title"/>
          </p:nvPr>
        </p:nvSpPr>
        <p:spPr>
          <a:xfrm>
            <a:off x="144780" y="167005"/>
            <a:ext cx="10397600" cy="732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r>
              <a:rPr lang="ja-JP" altLang="en-US" dirty="0"/>
              <a:t>面積比較</a:t>
            </a:r>
            <a:r>
              <a:rPr lang="en-US" altLang="ja-JP" sz="3200" dirty="0"/>
              <a:t>(</a:t>
            </a:r>
            <a:r>
              <a:rPr lang="ja-JP" altLang="en-US" sz="3200" dirty="0"/>
              <a:t>面積は規模拡大でも優位性を保つ</a:t>
            </a:r>
            <a:r>
              <a:rPr lang="en-US" altLang="ja-JP" sz="3200" dirty="0"/>
              <a:t>)</a:t>
            </a:r>
            <a:endParaRPr dirty="0"/>
          </a:p>
        </p:txBody>
      </p:sp>
      <p:sp>
        <p:nvSpPr>
          <p:cNvPr id="259" name="Google Shape;259;p26"/>
          <p:cNvSpPr txBox="1">
            <a:spLocks noGrp="1"/>
          </p:cNvSpPr>
          <p:nvPr>
            <p:ph type="sldNum" idx="12"/>
          </p:nvPr>
        </p:nvSpPr>
        <p:spPr>
          <a:xfrm>
            <a:off x="9250680" y="6334760"/>
            <a:ext cx="2743200" cy="3652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 altLang="ja"/>
              <a:pPr>
                <a:buClr>
                  <a:srgbClr val="000000"/>
                </a:buClr>
              </a:pPr>
              <a:t>20</a:t>
            </a:fld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500" y="3429001"/>
            <a:ext cx="5944003" cy="3270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68" y="1073201"/>
            <a:ext cx="12047233" cy="232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545</Words>
  <Application>Microsoft Office PowerPoint</Application>
  <PresentationFormat>ワイド画面</PresentationFormat>
  <Paragraphs>124</Paragraphs>
  <Slides>20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メイリオ</vt:lpstr>
      <vt:lpstr>メイリオ</vt:lpstr>
      <vt:lpstr>游ゴシック</vt:lpstr>
      <vt:lpstr>Arial</vt:lpstr>
      <vt:lpstr>Office テーマ</vt:lpstr>
      <vt:lpstr>SoPA</vt:lpstr>
      <vt:lpstr>ネットリストの調査</vt:lpstr>
      <vt:lpstr>ネットリスト傾向 (1回路)</vt:lpstr>
      <vt:lpstr>ネットリスト傾向(41回路)</vt:lpstr>
      <vt:lpstr>配置配線手法</vt:lpstr>
      <vt:lpstr>配置配線手法</vt:lpstr>
      <vt:lpstr>構造</vt:lpstr>
      <vt:lpstr>元になっている被覆構造の原理</vt:lpstr>
      <vt:lpstr>SoPAのアイデア</vt:lpstr>
      <vt:lpstr>スーパーセット構造の作り方</vt:lpstr>
      <vt:lpstr>スーパーセットの規格(段飛びすべてskip版)</vt:lpstr>
      <vt:lpstr>スーパーセットの規格(段飛びすべてフィードスルー版)</vt:lpstr>
      <vt:lpstr>総MUX数</vt:lpstr>
      <vt:lpstr>PowerPoint プレゼンテーション</vt:lpstr>
      <vt:lpstr>ネットリスト情報</vt:lpstr>
      <vt:lpstr>PowerPoint プレゼンテーション</vt:lpstr>
      <vt:lpstr>配置配線結果</vt:lpstr>
      <vt:lpstr>配線構造を作成(41回路それぞれで最小構造を作成)</vt:lpstr>
      <vt:lpstr>結果</vt:lpstr>
      <vt:lpstr>面積比較(面積は規模拡大でも優位性を保つ)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SoPA</dc:title>
  <dc:creator>木幡聡太</dc:creator>
  <cp:lastModifiedBy>木幡聡太</cp:lastModifiedBy>
  <cp:revision>20</cp:revision>
  <dcterms:created xsi:type="dcterms:W3CDTF">2026-09-09T07:15:17Z</dcterms:created>
  <dcterms:modified xsi:type="dcterms:W3CDTF">2026-09-09T15:05:12Z</dcterms:modified>
</cp:coreProperties>
</file>